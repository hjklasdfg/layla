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8ffa722e5_2_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e8ffa722e5_2_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4 opener (~5s). 'Layla is three real-time AI loops on one Spark: it plans a route for who you are, sees the street when you can't, and improves the city for the next person. Here's how it works.'</a:t>
            </a:r>
            <a:endParaRPr/>
          </a:p>
        </p:txBody>
      </p:sp>
      <p:sp>
        <p:nvSpPr>
          <p:cNvPr id="55" name="Google Shape;55;g3e8ffa722e5_2_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8ffa722e5_2_1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g3e8ffa722e5_2_1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~15s. Layla is a Next.js app. Speech in/out is ElevenLabs. Route reasoning runs on Nemotron-Omni via vLLM on our DGX Spark. A separate YOLO11n service does real-time vision. The hazard path runs vision+web-search on Nebius. Everything serves behind one Cloudflare tunnel and Caddy, so the demo URL stays stable.</a:t>
            </a:r>
            <a:endParaRPr/>
          </a:p>
        </p:txBody>
      </p:sp>
      <p:sp>
        <p:nvSpPr>
          <p:cNvPr id="67" name="Google Shape;67;g3e8ffa722e5_2_1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8ffa722e5_2_55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g3e8ffa722e5_2_55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~18s — the part to remember. We don't re-rank one route, we RE-ROUTE. Six open-data layers fuse on-device into one walkable graph of 3,825 edges. Each persona is a different set of edge-cost weights, so a wheelchair user and a blind user get genuinely different geometry from a weighted-Dijkstra search. Then five signals, one per data layer, score every route 0-100 and pick the recommended one. [Drop the Route Map screenshot showing the 4 colored persona routes.]</a:t>
            </a:r>
            <a:endParaRPr/>
          </a:p>
        </p:txBody>
      </p:sp>
      <p:sp>
        <p:nvSpPr>
          <p:cNvPr id="117" name="Google Shape;117;g3e8ffa722e5_2_55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8ffa722e5_2_98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g3e8ffa722e5_2_98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~15s. For blind users, Layla streams 5-second camera chunks to a YOLO11n service running at 33 milliseconds on-device. It doesn't just say 'obstacle' — it gives direction and distance through spatial audio: 'person very close on the right'. That directional cue lowers cognitive load versus a generic beep, and it's fully screen-free. [Drop the Live Hazard Watch panel screenshot with the YOLO bounding boxes.]</a:t>
            </a:r>
            <a:endParaRPr/>
          </a:p>
        </p:txBody>
      </p:sp>
      <p:sp>
        <p:nvSpPr>
          <p:cNvPr id="169" name="Google Shape;169;g3e8ffa722e5_2_98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8ffa722e5_2_125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3e8ffa722e5_2_125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~15s. The third loop is agentic. A user taps Report; the agent verifies the hazard from the photo, web-searches the correct authority, drafts a professional email, and sends it — logged to the shared map. We run this on Nebius because it needs live web reach. Tradeoff: it's not on-device, but it only fires on an explicit Report, so private data never leaves otherwise. Everyone contributes, the map heals itself. [Drop the Report-hazard email screenshot.]</a:t>
            </a:r>
            <a:endParaRPr/>
          </a:p>
        </p:txBody>
      </p:sp>
      <p:sp>
        <p:nvSpPr>
          <p:cNvPr id="197" name="Google Shape;197;g3e8ffa722e5_2_125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8ffa722e5_2_164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g3e8ffa722e5_2_164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~15s. One brain: Nemotron-Omni — multimodal, MoE so only 3B params are active per token, NVFP4 to fit in 15GB, Hermes tool-calling for the agent. It's provider-agnostic: one env var swaps it between our DGX and Nebius. Hardware drove the design — 128GB unified memory means Nemotron, the route graph, YOLO, and Next.js all share one address space with no PCIe shuffling. We run vLLM aarch64-cu130 native to GB10's ARM64.</a:t>
            </a:r>
            <a:endParaRPr/>
          </a:p>
        </p:txBody>
      </p:sp>
      <p:sp>
        <p:nvSpPr>
          <p:cNvPr id="237" name="Google Shape;237;g3e8ffa722e5_2_164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8ffa722e5_2_194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g3e8ffa722e5_2_194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~15s. Four bottlenecks in 24 hours. The fused graph took 13 seconds to build — we cache it and reload in 0.6. First-token latency was 1.5s, unusable for voice — prefix caching brought it to 400ms. NIM cold-start cost 2 hours — pre-warmed images. We kept a stable demo URL with one Cloudflare tunnel and Caddy. Honest tradeoff: routing covers the City of London today — expanding is just a bigger OSM box. The headline: one Spark runs a 30B model, real-time vision, six live feeds, and an agent — concurrently.</a:t>
            </a:r>
            <a:endParaRPr/>
          </a:p>
        </p:txBody>
      </p:sp>
      <p:sp>
        <p:nvSpPr>
          <p:cNvPr id="270" name="Google Shape;270;g3e8ffa722e5_2_194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14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B14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123444" cy="51435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425196" y="1028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100"/>
              <a:buFont typeface="Consolas"/>
              <a:buNone/>
            </a:pPr>
            <a:r>
              <a:rPr b="1" lang="en-GB" sz="1100">
                <a:solidFill>
                  <a:srgbClr val="76B900"/>
                </a:solidFill>
                <a:latin typeface="Consolas"/>
                <a:ea typeface="Consolas"/>
                <a:cs typeface="Consolas"/>
                <a:sym typeface="Consolas"/>
              </a:rPr>
              <a:t>04 · HOW WE BUILT 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425196" y="1371600"/>
            <a:ext cx="809244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3900"/>
              <a:buFont typeface="Trebuchet MS"/>
              <a:buNone/>
            </a:pPr>
            <a:r>
              <a:rPr b="1" lang="en-GB" sz="3900">
                <a:solidFill>
                  <a:srgbClr val="E8EEF9"/>
                </a:solidFill>
                <a:latin typeface="Trebuchet MS"/>
                <a:ea typeface="Trebuchet MS"/>
                <a:cs typeface="Trebuchet MS"/>
                <a:sym typeface="Trebuchet MS"/>
              </a:rPr>
              <a:t>Three real-time AI loops, on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3900"/>
              <a:buFont typeface="Trebuchet MS"/>
              <a:buNone/>
            </a:pPr>
            <a:r>
              <a:rPr b="1" lang="en-GB" sz="3900">
                <a:solidFill>
                  <a:srgbClr val="E8EEF9"/>
                </a:solidFill>
                <a:latin typeface="Trebuchet MS"/>
                <a:ea typeface="Trebuchet MS"/>
                <a:cs typeface="Trebuchet MS"/>
                <a:sym typeface="Trebuchet MS"/>
              </a:rPr>
              <a:t>one DGX Spark / Nano AI Station.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425196" y="2983230"/>
            <a:ext cx="8641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onsolas"/>
              <a:buNone/>
            </a:pPr>
            <a:r>
              <a:rPr b="1" lang="en-GB" sz="1100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PLAN</a:t>
            </a:r>
            <a:r>
              <a:rPr lang="en-GB" sz="11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 routes for you    </a:t>
            </a:r>
            <a:r>
              <a:rPr b="1" lang="en-GB" sz="1100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SEE</a:t>
            </a:r>
            <a:r>
              <a:rPr lang="en-GB" sz="11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 vision @ 33 ms    </a:t>
            </a:r>
            <a:r>
              <a:rPr b="1" lang="en-GB" sz="1100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IMPROVE</a:t>
            </a:r>
            <a:r>
              <a:rPr lang="en-GB" sz="11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 civic agent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425196" y="360045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1000"/>
              <a:buFont typeface="Consolas"/>
              <a:buNone/>
            </a:pPr>
            <a:r>
              <a:rPr lang="en-GB" sz="10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Nemotron-3-Nano-Omni-30B · NVFP4 · vLLM aarch64 · 6 fused data layers · 128 GB unified memory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425196" y="4663440"/>
            <a:ext cx="6858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Team Layla · NVIDIA Hack for Impact, London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7283199" y="277600"/>
            <a:ext cx="16974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3900"/>
              <a:buFont typeface="Trebuchet MS"/>
              <a:buNone/>
            </a:pPr>
            <a:r>
              <a:rPr b="1" lang="en-GB" sz="3900">
                <a:solidFill>
                  <a:srgbClr val="4FC3F7"/>
                </a:solidFill>
                <a:highlight>
                  <a:schemeClr val="dk1"/>
                </a:highlight>
                <a:latin typeface="Trebuchet MS"/>
                <a:ea typeface="Trebuchet MS"/>
                <a:cs typeface="Trebuchet MS"/>
                <a:sym typeface="Trebuchet MS"/>
              </a:rPr>
              <a:t>Layla</a:t>
            </a:r>
            <a:endParaRPr sz="3900">
              <a:solidFill>
                <a:srgbClr val="4FC3F7"/>
              </a:solidFill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B14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425196" y="28803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900"/>
              <a:buFont typeface="Consolas"/>
              <a:buNone/>
            </a:pPr>
            <a:r>
              <a:rPr b="1" lang="en-GB" sz="900">
                <a:solidFill>
                  <a:srgbClr val="76B900"/>
                </a:solidFill>
                <a:latin typeface="Consolas"/>
                <a:ea typeface="Consolas"/>
                <a:cs typeface="Consolas"/>
                <a:sym typeface="Consolas"/>
              </a:rPr>
              <a:t>ARCHITECTURE &amp; STACK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425196" y="493776"/>
            <a:ext cx="75438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2400"/>
              <a:buFont typeface="Trebuchet MS"/>
              <a:buNone/>
            </a:pPr>
            <a:r>
              <a:rPr b="1" lang="en-GB" sz="2400">
                <a:solidFill>
                  <a:srgbClr val="E8EEF9"/>
                </a:solidFill>
                <a:latin typeface="Trebuchet MS"/>
                <a:ea typeface="Trebuchet MS"/>
                <a:cs typeface="Trebuchet MS"/>
                <a:sym typeface="Trebuchet MS"/>
              </a:rPr>
              <a:t>The  </a:t>
            </a:r>
            <a:r>
              <a:rPr b="1" lang="en-GB" sz="2400">
                <a:solidFill>
                  <a:srgbClr val="4FC3F7"/>
                </a:solidFill>
                <a:latin typeface="Trebuchet MS"/>
                <a:ea typeface="Trebuchet MS"/>
                <a:cs typeface="Trebuchet MS"/>
                <a:sym typeface="Trebuchet MS"/>
              </a:rPr>
              <a:t>stack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5563895" y="342900"/>
            <a:ext cx="31546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one request, end to end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16"/>
          <p:cNvCxnSpPr/>
          <p:nvPr/>
        </p:nvCxnSpPr>
        <p:spPr>
          <a:xfrm>
            <a:off x="425196" y="1042416"/>
            <a:ext cx="8293379" cy="0"/>
          </a:xfrm>
          <a:prstGeom prst="straightConnector1">
            <a:avLst/>
          </a:prstGeom>
          <a:noFill/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16"/>
          <p:cNvSpPr/>
          <p:nvPr/>
        </p:nvSpPr>
        <p:spPr>
          <a:xfrm>
            <a:off x="425196" y="1234440"/>
            <a:ext cx="5074920" cy="3429000"/>
          </a:xfrm>
          <a:prstGeom prst="rect">
            <a:avLst/>
          </a:prstGeom>
          <a:solidFill>
            <a:srgbClr val="0D1726"/>
          </a:solidFill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27843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630936" y="1357884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REQUEST FLOW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630936" y="1618488"/>
            <a:ext cx="4663440" cy="315468"/>
          </a:xfrm>
          <a:prstGeom prst="roundRect">
            <a:avLst>
              <a:gd fmla="val 13043" name="adj"/>
            </a:avLst>
          </a:prstGeom>
          <a:solidFill>
            <a:srgbClr val="0C1730"/>
          </a:solidFill>
          <a:ln cap="flat" cmpd="sng" w="15875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630936" y="1618488"/>
            <a:ext cx="466344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00"/>
              <a:buFont typeface="Consolas"/>
              <a:buNone/>
            </a:pPr>
            <a:r>
              <a:rPr lang="en-GB" sz="900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User  ·  voice · camera · touch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630936" y="1961388"/>
            <a:ext cx="4663440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↓  HTTPS · Cloudflare Tunnel → Caddy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630936" y="2167128"/>
            <a:ext cx="2228850" cy="315468"/>
          </a:xfrm>
          <a:prstGeom prst="roundRect">
            <a:avLst>
              <a:gd fmla="val 13043" name="adj"/>
            </a:avLst>
          </a:prstGeom>
          <a:solidFill>
            <a:srgbClr val="0C1730"/>
          </a:solidFill>
          <a:ln cap="flat" cmpd="sng" w="15875">
            <a:solidFill>
              <a:srgbClr val="FFC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630936" y="2167128"/>
            <a:ext cx="222885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08A"/>
              </a:buClr>
              <a:buSzPts val="900"/>
              <a:buFont typeface="Consolas"/>
              <a:buNone/>
            </a:pPr>
            <a:r>
              <a:rPr lang="en-GB" sz="900">
                <a:solidFill>
                  <a:srgbClr val="FFC08A"/>
                </a:solidFill>
                <a:latin typeface="Consolas"/>
                <a:ea typeface="Consolas"/>
                <a:cs typeface="Consolas"/>
                <a:sym typeface="Consolas"/>
              </a:rPr>
              <a:t>Next.js 16 frontend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3065526" y="2167128"/>
            <a:ext cx="2228850" cy="315468"/>
          </a:xfrm>
          <a:prstGeom prst="roundRect">
            <a:avLst>
              <a:gd fmla="val 13043" name="adj"/>
            </a:avLst>
          </a:prstGeom>
          <a:solidFill>
            <a:srgbClr val="0C1730"/>
          </a:solidFill>
          <a:ln cap="flat" cmpd="sng" w="15875">
            <a:solidFill>
              <a:srgbClr val="FFC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3065526" y="2167128"/>
            <a:ext cx="222885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08A"/>
              </a:buClr>
              <a:buSzPts val="900"/>
              <a:buFont typeface="Consolas"/>
              <a:buNone/>
            </a:pPr>
            <a:r>
              <a:rPr lang="en-GB" sz="900">
                <a:solidFill>
                  <a:srgbClr val="FFC08A"/>
                </a:solidFill>
                <a:latin typeface="Consolas"/>
                <a:ea typeface="Consolas"/>
                <a:cs typeface="Consolas"/>
                <a:sym typeface="Consolas"/>
              </a:rPr>
              <a:t>API /mobility /camera /voice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630936" y="2510028"/>
            <a:ext cx="4663440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↓  fan-out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630936" y="2715768"/>
            <a:ext cx="2228850" cy="315468"/>
          </a:xfrm>
          <a:prstGeom prst="roundRect">
            <a:avLst>
              <a:gd fmla="val 13043" name="adj"/>
            </a:avLst>
          </a:prstGeom>
          <a:solidFill>
            <a:srgbClr val="0C1730"/>
          </a:solidFill>
          <a:ln cap="flat" cmpd="sng" w="15875">
            <a:solidFill>
              <a:srgbClr val="CF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630936" y="2715768"/>
            <a:ext cx="222885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D8E8"/>
              </a:buClr>
              <a:buSzPts val="900"/>
              <a:buFont typeface="Consolas"/>
              <a:buNone/>
            </a:pPr>
            <a:r>
              <a:rPr lang="en-GB" sz="900">
                <a:solidFill>
                  <a:srgbClr val="CFD8E8"/>
                </a:solidFill>
                <a:latin typeface="Consolas"/>
                <a:ea typeface="Consolas"/>
                <a:cs typeface="Consolas"/>
                <a:sym typeface="Consolas"/>
              </a:rPr>
              <a:t>TfL Unified API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3065526" y="2715768"/>
            <a:ext cx="2228850" cy="315468"/>
          </a:xfrm>
          <a:prstGeom prst="roundRect">
            <a:avLst>
              <a:gd fmla="val 13043" name="adj"/>
            </a:avLst>
          </a:prstGeom>
          <a:solidFill>
            <a:srgbClr val="0C1730"/>
          </a:solidFill>
          <a:ln cap="flat" cmpd="sng" w="15875">
            <a:solidFill>
              <a:srgbClr val="CF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3065526" y="2715768"/>
            <a:ext cx="222885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D8E8"/>
              </a:buClr>
              <a:buSzPts val="900"/>
              <a:buFont typeface="Consolas"/>
              <a:buNone/>
            </a:pPr>
            <a:r>
              <a:rPr lang="en-GB" sz="900">
                <a:solidFill>
                  <a:srgbClr val="CFD8E8"/>
                </a:solidFill>
                <a:latin typeface="Consolas"/>
                <a:ea typeface="Consolas"/>
                <a:cs typeface="Consolas"/>
                <a:sym typeface="Consolas"/>
              </a:rPr>
              <a:t>ElevenLabs Scribe + TTS / ElevenAgents VAD / ASR / TTS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630936" y="3113532"/>
            <a:ext cx="2228850" cy="315468"/>
          </a:xfrm>
          <a:prstGeom prst="roundRect">
            <a:avLst>
              <a:gd fmla="val 13043" name="adj"/>
            </a:avLst>
          </a:prstGeom>
          <a:solidFill>
            <a:srgbClr val="0C1730"/>
          </a:solidFill>
          <a:ln cap="flat" cmpd="sng" w="15875">
            <a:solidFill>
              <a:srgbClr val="FFE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630936" y="3113532"/>
            <a:ext cx="222885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08A"/>
              </a:buClr>
              <a:buSzPts val="900"/>
              <a:buFont typeface="Consolas"/>
              <a:buNone/>
            </a:pPr>
            <a:r>
              <a:rPr lang="en-GB" sz="900">
                <a:solidFill>
                  <a:srgbClr val="FFE08A"/>
                </a:solidFill>
                <a:latin typeface="Consolas"/>
                <a:ea typeface="Consolas"/>
                <a:cs typeface="Consolas"/>
                <a:sym typeface="Consolas"/>
              </a:rPr>
              <a:t>Nemotron Nano 30B Omni · vLLM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3065526" y="3113532"/>
            <a:ext cx="2228850" cy="315468"/>
          </a:xfrm>
          <a:prstGeom prst="roundRect">
            <a:avLst>
              <a:gd fmla="val 13043" name="adj"/>
            </a:avLst>
          </a:prstGeom>
          <a:solidFill>
            <a:srgbClr val="0C1730"/>
          </a:solidFill>
          <a:ln cap="flat" cmpd="sng" w="15875">
            <a:solidFill>
              <a:srgbClr val="CF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3065526" y="3113532"/>
            <a:ext cx="222885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D8E8"/>
              </a:buClr>
              <a:buSzPts val="900"/>
              <a:buFont typeface="Consolas"/>
              <a:buNone/>
            </a:pPr>
            <a:r>
              <a:rPr lang="en-GB" sz="900">
                <a:solidFill>
                  <a:srgbClr val="CFD8E8"/>
                </a:solidFill>
                <a:latin typeface="Consolas"/>
                <a:ea typeface="Consolas"/>
                <a:cs typeface="Consolas"/>
                <a:sym typeface="Consolas"/>
              </a:rPr>
              <a:t>Nebius TokenFactory - Vision LM   + email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630936" y="3511296"/>
            <a:ext cx="4663440" cy="315468"/>
          </a:xfrm>
          <a:prstGeom prst="roundRect">
            <a:avLst>
              <a:gd fmla="val 13043" name="adj"/>
            </a:avLst>
          </a:prstGeom>
          <a:solidFill>
            <a:srgbClr val="0C1730"/>
          </a:solidFill>
          <a:ln cap="flat" cmpd="sng" w="15875">
            <a:solidFill>
              <a:srgbClr val="FF8F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630936" y="3511296"/>
            <a:ext cx="466344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FB3"/>
              </a:buClr>
              <a:buSzPts val="900"/>
              <a:buFont typeface="Consolas"/>
              <a:buNone/>
            </a:pPr>
            <a:r>
              <a:rPr lang="en-GB" sz="900">
                <a:solidFill>
                  <a:srgbClr val="FF8FB3"/>
                </a:solidFill>
                <a:latin typeface="Consolas"/>
                <a:ea typeface="Consolas"/>
                <a:cs typeface="Consolas"/>
                <a:sym typeface="Consolas"/>
              </a:rPr>
              <a:t>YOLO11n.pt vision service  ·  33 ms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630936" y="3922776"/>
            <a:ext cx="4663440" cy="315468"/>
          </a:xfrm>
          <a:prstGeom prst="roundRect">
            <a:avLst>
              <a:gd fmla="val 13043" name="adj"/>
            </a:avLst>
          </a:prstGeom>
          <a:solidFill>
            <a:srgbClr val="0C1730"/>
          </a:solidFill>
          <a:ln cap="flat" cmpd="sng" w="15875">
            <a:solidFill>
              <a:srgbClr val="9CC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630936" y="3922776"/>
            <a:ext cx="466344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C2FF"/>
              </a:buClr>
              <a:buSzPts val="900"/>
              <a:buFont typeface="Consolas"/>
              <a:buNone/>
            </a:pPr>
            <a:r>
              <a:rPr lang="en-GB" sz="900">
                <a:solidFill>
                  <a:srgbClr val="9CC2FF"/>
                </a:solidFill>
                <a:latin typeface="Consolas"/>
                <a:ea typeface="Consolas"/>
                <a:cs typeface="Consolas"/>
                <a:sym typeface="Consolas"/>
              </a:rPr>
              <a:t>⚡ DGX Spark / Nano AI Station · Grace Blackwell GB10 · 128GB unified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5705856" y="1234440"/>
            <a:ext cx="3017400" cy="1062900"/>
          </a:xfrm>
          <a:prstGeom prst="rect">
            <a:avLst/>
          </a:prstGeom>
          <a:solidFill>
            <a:srgbClr val="0D1726"/>
          </a:solidFill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27843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5877306" y="1357884"/>
            <a:ext cx="26060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FRONTEND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5877306" y="1591056"/>
            <a:ext cx="26746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Char char="•"/>
            </a:pPr>
            <a:r>
              <a:rPr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Next.js 16 · React 19 · TypeScript · Bun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40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Char char="•"/>
            </a:pPr>
            <a:r>
              <a:rPr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Leaflet map · Tailwind · ARIA a11y layer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5705856" y="2400300"/>
            <a:ext cx="3017520" cy="1337310"/>
          </a:xfrm>
          <a:prstGeom prst="rect">
            <a:avLst/>
          </a:prstGeom>
          <a:solidFill>
            <a:srgbClr val="0D1726"/>
          </a:solidFill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27843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5877306" y="2523744"/>
            <a:ext cx="26060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AI &amp; DATA SERVICES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5877300" y="2756925"/>
            <a:ext cx="27825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Char char="•"/>
            </a:pPr>
            <a:r>
              <a:rPr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ElevenLabs Scribe STT · TTS / EvevenAgents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30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Char char="•"/>
            </a:pPr>
            <a:r>
              <a:rPr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Nemotron-3-Nano-Omni on vLLM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30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Char char="•"/>
            </a:pPr>
            <a:r>
              <a:rPr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Nebius TokenFactory hazard vision + civic email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30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Char char="•"/>
            </a:pPr>
            <a:r>
              <a:rPr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YOLO11n vision · 5 TfL APIs · OSM/ London Police crime/ Defra - noise/ London air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5705856" y="3840480"/>
            <a:ext cx="3017520" cy="822960"/>
          </a:xfrm>
          <a:prstGeom prst="rect">
            <a:avLst/>
          </a:prstGeom>
          <a:solidFill>
            <a:srgbClr val="0D1726"/>
          </a:solidFill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27843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5877306" y="3963924"/>
            <a:ext cx="26060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RUNTIME &amp; INFRA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5877306" y="4197096"/>
            <a:ext cx="26746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onsolas"/>
              <a:buChar char="•"/>
            </a:pPr>
            <a:r>
              <a:rPr lang="en-GB" sz="1000">
                <a:solidFill>
                  <a:srgbClr val="E8EEF9"/>
                </a:solidFill>
                <a:latin typeface="Consolas"/>
                <a:ea typeface="Consolas"/>
                <a:cs typeface="Consolas"/>
                <a:sym typeface="Consolas"/>
              </a:rPr>
              <a:t>vLLM v0.20-aarch64-cu130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30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Char char="•"/>
            </a:pPr>
            <a:r>
              <a:rPr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Docker · Caddy · Cloudflare Tunnel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25196" y="4828032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LAYLA</a:t>
            </a: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  ·  Accessibility Mobility Intelligence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6386855" y="4828032"/>
            <a:ext cx="17145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04 · How we built it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8560841" y="4828032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76B9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850" y="414574"/>
            <a:ext cx="686919" cy="50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6338" y="507500"/>
            <a:ext cx="12477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5325" y="361075"/>
            <a:ext cx="626499" cy="626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01874" y="534950"/>
            <a:ext cx="1133278" cy="31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51971" y="401645"/>
            <a:ext cx="822949" cy="554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19038" y="534951"/>
            <a:ext cx="838730" cy="31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02554" y="396225"/>
            <a:ext cx="764973" cy="55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B14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425196" y="28803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900"/>
              <a:buFont typeface="Consolas"/>
              <a:buNone/>
            </a:pPr>
            <a:r>
              <a:rPr b="1" lang="en-GB" sz="900">
                <a:solidFill>
                  <a:srgbClr val="76B900"/>
                </a:solidFill>
                <a:latin typeface="Consolas"/>
                <a:ea typeface="Consolas"/>
                <a:cs typeface="Consolas"/>
                <a:sym typeface="Consolas"/>
              </a:rPr>
              <a:t>PLAN · ENGINEERING CORE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425199" y="493775"/>
            <a:ext cx="6099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2400"/>
              <a:buFont typeface="Trebuchet MS"/>
              <a:buNone/>
            </a:pPr>
            <a:r>
              <a:rPr b="1" lang="en-GB" sz="2400">
                <a:solidFill>
                  <a:srgbClr val="E8EEF9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b="1" lang="en-GB" sz="2400">
                <a:solidFill>
                  <a:srgbClr val="4FC3F7"/>
                </a:solidFill>
                <a:latin typeface="Trebuchet MS"/>
                <a:ea typeface="Trebuchet MS"/>
                <a:cs typeface="Trebuchet MS"/>
                <a:sym typeface="Trebuchet MS"/>
              </a:rPr>
              <a:t>route engine</a:t>
            </a:r>
            <a:r>
              <a:rPr b="1" lang="en-GB" sz="2400">
                <a:solidFill>
                  <a:srgbClr val="E8EEF9"/>
                </a:solidFill>
                <a:latin typeface="Trebuchet MS"/>
                <a:ea typeface="Trebuchet MS"/>
                <a:cs typeface="Trebuchet MS"/>
                <a:sym typeface="Trebuchet MS"/>
              </a:rPr>
              <a:t> —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5563895" y="342900"/>
            <a:ext cx="31546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weighted Dijkstra · pure stdlib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17"/>
          <p:cNvCxnSpPr/>
          <p:nvPr/>
        </p:nvCxnSpPr>
        <p:spPr>
          <a:xfrm>
            <a:off x="425196" y="1042416"/>
            <a:ext cx="8293379" cy="0"/>
          </a:xfrm>
          <a:prstGeom prst="straightConnector1">
            <a:avLst/>
          </a:prstGeom>
          <a:noFill/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17"/>
          <p:cNvSpPr/>
          <p:nvPr/>
        </p:nvSpPr>
        <p:spPr>
          <a:xfrm>
            <a:off x="425196" y="1234440"/>
            <a:ext cx="4457700" cy="3429000"/>
          </a:xfrm>
          <a:prstGeom prst="rect">
            <a:avLst/>
          </a:prstGeom>
          <a:solidFill>
            <a:srgbClr val="0D1726"/>
          </a:solidFill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27843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630936" y="1357884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6 DATA LAYERS → 1 FUSED WALKABLE GRAPH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630936" y="1611630"/>
            <a:ext cx="4046220" cy="1748790"/>
          </a:xfrm>
          <a:prstGeom prst="rect">
            <a:avLst/>
          </a:prstGeom>
          <a:solidFill>
            <a:srgbClr val="0A1322"/>
          </a:solidFill>
          <a:ln cap="flat" cmpd="sng" w="19050">
            <a:solidFill>
              <a:srgbClr val="4FC3F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630924" y="1591080"/>
            <a:ext cx="4046100" cy="17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000"/>
              <a:buFont typeface="Consolas"/>
              <a:buNone/>
            </a:pPr>
            <a:r>
              <a:rPr b="1" lang="en-GB" sz="1000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▣  DROP REAL SCREENSHOT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Route Map panel — 4 persona routes on one map (A→B)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630936" y="346329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1000"/>
              <a:buFont typeface="Consolas"/>
              <a:buChar char="•"/>
            </a:pPr>
            <a:r>
              <a:rPr lang="en-GB" sz="10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3,825 edges · 264 a11y points · 17,585 crime · 945 noise polys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40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Char char="•"/>
            </a:pPr>
            <a:r>
              <a:rPr b="1"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Same A→B · different persona → different edge cost →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400"/>
              </a:spcBef>
              <a:spcAft>
                <a:spcPts val="0"/>
              </a:spcAft>
              <a:buClr>
                <a:srgbClr val="4FC3F7"/>
              </a:buClr>
              <a:buSzPts val="1000"/>
              <a:buFont typeface="Calibri"/>
              <a:buChar char="•"/>
            </a:pPr>
            <a:r>
              <a:rPr b="1" lang="en-GB" sz="1000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different GEOMETRY  (not the same line re-labeled)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5088636" y="1234440"/>
            <a:ext cx="3634740" cy="1645920"/>
          </a:xfrm>
          <a:prstGeom prst="rect">
            <a:avLst/>
          </a:prstGeom>
          <a:solidFill>
            <a:srgbClr val="0D1726"/>
          </a:solidFill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27843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5260086" y="1357884"/>
            <a:ext cx="32918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PER-PERSONA COST FUNCTION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260086" y="1577340"/>
            <a:ext cx="3291840" cy="377190"/>
          </a:xfrm>
          <a:prstGeom prst="rect">
            <a:avLst/>
          </a:prstGeom>
          <a:solidFill>
            <a:srgbClr val="08111F"/>
          </a:solidFill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5260086" y="1577340"/>
            <a:ext cx="32918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100"/>
              <a:buFont typeface="Consolas"/>
              <a:buNone/>
            </a:pPr>
            <a:r>
              <a:rPr lang="en-GB" sz="1100">
                <a:solidFill>
                  <a:srgbClr val="CFE3FF"/>
                </a:solidFill>
                <a:latin typeface="Consolas"/>
                <a:ea typeface="Consolas"/>
                <a:cs typeface="Consolas"/>
                <a:sym typeface="Consolas"/>
              </a:rPr>
              <a:t>cost(edge) = length × (1 + Σ </a:t>
            </a:r>
            <a:r>
              <a:rPr b="1" lang="en-GB" sz="1100">
                <a:solidFill>
                  <a:srgbClr val="FFD24A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lang="en-GB" sz="1100">
                <a:solidFill>
                  <a:srgbClr val="CFE3FF"/>
                </a:solidFill>
                <a:latin typeface="Consolas"/>
                <a:ea typeface="Consolas"/>
                <a:cs typeface="Consolas"/>
                <a:sym typeface="Consolas"/>
              </a:rPr>
              <a:t>·score)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5260086" y="2057400"/>
            <a:ext cx="33604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900"/>
              <a:buFont typeface="Consolas"/>
              <a:buChar char="•"/>
            </a:pPr>
            <a:r>
              <a:rPr lang="en-GB" sz="900">
                <a:solidFill>
                  <a:srgbClr val="E8EEF9"/>
                </a:solidFill>
                <a:latin typeface="Consolas"/>
                <a:ea typeface="Consolas"/>
                <a:cs typeface="Consolas"/>
                <a:sym typeface="Consolas"/>
              </a:rPr>
              <a:t>wheelchair   steps×80 · incline×6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300"/>
              </a:spcBef>
              <a:spcAft>
                <a:spcPts val="0"/>
              </a:spcAft>
              <a:buClr>
                <a:srgbClr val="E8EEF9"/>
              </a:buClr>
              <a:buSzPts val="900"/>
              <a:buFont typeface="Consolas"/>
              <a:buChar char="•"/>
            </a:pPr>
            <a:r>
              <a:rPr lang="en-GB" sz="900">
                <a:solidFill>
                  <a:srgbClr val="E8EEF9"/>
                </a:solidFill>
                <a:latin typeface="Consolas"/>
                <a:ea typeface="Consolas"/>
                <a:cs typeface="Consolas"/>
                <a:sym typeface="Consolas"/>
              </a:rPr>
              <a:t>blind        steps×8 · tactile×2 · noise×3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300"/>
              </a:spcBef>
              <a:spcAft>
                <a:spcPts val="0"/>
              </a:spcAft>
              <a:buClr>
                <a:srgbClr val="E8EEF9"/>
              </a:buClr>
              <a:buSzPts val="900"/>
              <a:buFont typeface="Consolas"/>
              <a:buChar char="•"/>
            </a:pPr>
            <a:r>
              <a:rPr lang="en-GB" sz="900">
                <a:solidFill>
                  <a:srgbClr val="E8EEF9"/>
                </a:solidFill>
                <a:latin typeface="Consolas"/>
                <a:ea typeface="Consolas"/>
                <a:cs typeface="Consolas"/>
                <a:sym typeface="Consolas"/>
              </a:rPr>
              <a:t>night-safety crime×8 · darkness×5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5088636" y="2983230"/>
            <a:ext cx="3634740" cy="1680210"/>
          </a:xfrm>
          <a:prstGeom prst="rect">
            <a:avLst/>
          </a:prstGeom>
          <a:solidFill>
            <a:srgbClr val="0D1726"/>
          </a:solidFill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27843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5260086" y="3106674"/>
            <a:ext cx="32918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5 SIGNALS · ONE PER DATA LAYER (0–100)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5260086" y="3374136"/>
            <a:ext cx="133731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None/>
            </a:pPr>
            <a:r>
              <a:rPr b="1"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Accessibility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6597396" y="3374136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steps · incline · tactile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7934706" y="3374136"/>
            <a:ext cx="6172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76B900"/>
                </a:solidFill>
                <a:latin typeface="Consolas"/>
                <a:ea typeface="Consolas"/>
                <a:cs typeface="Consolas"/>
                <a:sym typeface="Consolas"/>
              </a:rPr>
              <a:t>OSM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17"/>
          <p:cNvCxnSpPr/>
          <p:nvPr/>
        </p:nvCxnSpPr>
        <p:spPr>
          <a:xfrm>
            <a:off x="5260086" y="3607308"/>
            <a:ext cx="3291840" cy="0"/>
          </a:xfrm>
          <a:prstGeom prst="straightConnector1">
            <a:avLst/>
          </a:prstGeom>
          <a:noFill/>
          <a:ln cap="flat" cmpd="sng" w="9525">
            <a:solidFill>
              <a:srgbClr val="14223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9" name="Google Shape;139;p17"/>
          <p:cNvSpPr/>
          <p:nvPr/>
        </p:nvSpPr>
        <p:spPr>
          <a:xfrm>
            <a:off x="5260086" y="3634740"/>
            <a:ext cx="133731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None/>
            </a:pPr>
            <a:r>
              <a:rPr b="1"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Safety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6597396" y="363474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crime density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7934706" y="3634740"/>
            <a:ext cx="6172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76B900"/>
                </a:solidFill>
                <a:latin typeface="Consolas"/>
                <a:ea typeface="Consolas"/>
                <a:cs typeface="Consolas"/>
                <a:sym typeface="Consolas"/>
              </a:rPr>
              <a:t>police.uk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17"/>
          <p:cNvCxnSpPr/>
          <p:nvPr/>
        </p:nvCxnSpPr>
        <p:spPr>
          <a:xfrm>
            <a:off x="5260086" y="3867912"/>
            <a:ext cx="3291840" cy="0"/>
          </a:xfrm>
          <a:prstGeom prst="straightConnector1">
            <a:avLst/>
          </a:prstGeom>
          <a:noFill/>
          <a:ln cap="flat" cmpd="sng" w="9525">
            <a:solidFill>
              <a:srgbClr val="14223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3" name="Google Shape;143;p17"/>
          <p:cNvSpPr/>
          <p:nvPr/>
        </p:nvSpPr>
        <p:spPr>
          <a:xfrm>
            <a:off x="5260086" y="3895344"/>
            <a:ext cx="133731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None/>
            </a:pPr>
            <a:r>
              <a:rPr b="1"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Quiet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6597396" y="3895344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road-noise dB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7934706" y="3895344"/>
            <a:ext cx="6172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76B900"/>
                </a:solidFill>
                <a:latin typeface="Consolas"/>
                <a:ea typeface="Consolas"/>
                <a:cs typeface="Consolas"/>
                <a:sym typeface="Consolas"/>
              </a:rPr>
              <a:t>DEFRA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17"/>
          <p:cNvCxnSpPr/>
          <p:nvPr/>
        </p:nvCxnSpPr>
        <p:spPr>
          <a:xfrm>
            <a:off x="5260086" y="4128516"/>
            <a:ext cx="3291840" cy="0"/>
          </a:xfrm>
          <a:prstGeom prst="straightConnector1">
            <a:avLst/>
          </a:prstGeom>
          <a:noFill/>
          <a:ln cap="flat" cmpd="sng" w="9525">
            <a:solidFill>
              <a:srgbClr val="14223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7" name="Google Shape;147;p17"/>
          <p:cNvSpPr/>
          <p:nvPr/>
        </p:nvSpPr>
        <p:spPr>
          <a:xfrm>
            <a:off x="5260086" y="4155948"/>
            <a:ext cx="133731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None/>
            </a:pPr>
            <a:r>
              <a:rPr b="1"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Lighting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6597396" y="415594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unlit segments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7934706" y="4155948"/>
            <a:ext cx="6172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76B900"/>
                </a:solidFill>
                <a:latin typeface="Consolas"/>
                <a:ea typeface="Consolas"/>
                <a:cs typeface="Consolas"/>
                <a:sym typeface="Consolas"/>
              </a:rPr>
              <a:t>OSM lit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17"/>
          <p:cNvCxnSpPr/>
          <p:nvPr/>
        </p:nvCxnSpPr>
        <p:spPr>
          <a:xfrm>
            <a:off x="5260086" y="4389120"/>
            <a:ext cx="3291840" cy="0"/>
          </a:xfrm>
          <a:prstGeom prst="straightConnector1">
            <a:avLst/>
          </a:prstGeom>
          <a:noFill/>
          <a:ln cap="flat" cmpd="sng" w="9525">
            <a:solidFill>
              <a:srgbClr val="14223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1" name="Google Shape;151;p17"/>
          <p:cNvSpPr/>
          <p:nvPr/>
        </p:nvSpPr>
        <p:spPr>
          <a:xfrm>
            <a:off x="5260086" y="4416552"/>
            <a:ext cx="133731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None/>
            </a:pPr>
            <a:r>
              <a:rPr b="1"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Air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6597396" y="4416552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nearest index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7934706" y="4416552"/>
            <a:ext cx="6172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76B900"/>
                </a:solidFill>
                <a:latin typeface="Consolas"/>
                <a:ea typeface="Consolas"/>
                <a:cs typeface="Consolas"/>
                <a:sym typeface="Consolas"/>
              </a:rPr>
              <a:t>LAQN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17"/>
          <p:cNvCxnSpPr/>
          <p:nvPr/>
        </p:nvCxnSpPr>
        <p:spPr>
          <a:xfrm>
            <a:off x="5260086" y="4649724"/>
            <a:ext cx="3291840" cy="0"/>
          </a:xfrm>
          <a:prstGeom prst="straightConnector1">
            <a:avLst/>
          </a:prstGeom>
          <a:noFill/>
          <a:ln cap="flat" cmpd="sng" w="9525">
            <a:solidFill>
              <a:srgbClr val="14223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5" name="Google Shape;155;p17"/>
          <p:cNvSpPr/>
          <p:nvPr/>
        </p:nvSpPr>
        <p:spPr>
          <a:xfrm>
            <a:off x="425196" y="4828032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LAYLA</a:t>
            </a: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  ·  Accessibility Mobility Intelligence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6386855" y="4828032"/>
            <a:ext cx="17145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04 · How we built it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8560841" y="4828032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76B9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8175" y="545200"/>
            <a:ext cx="480000" cy="4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2025" y="553137"/>
            <a:ext cx="529975" cy="42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3863" y="553125"/>
            <a:ext cx="1041975" cy="429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16575" y="528063"/>
            <a:ext cx="1299218" cy="48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/>
          <p:nvPr/>
        </p:nvSpPr>
        <p:spPr>
          <a:xfrm>
            <a:off x="735424" y="4183450"/>
            <a:ext cx="3634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2400"/>
              <a:buFont typeface="Trebuchet MS"/>
              <a:buNone/>
            </a:pPr>
            <a:r>
              <a:rPr b="1" lang="en-GB" sz="2400">
                <a:solidFill>
                  <a:srgbClr val="4FC3F7"/>
                </a:solidFill>
                <a:latin typeface="Trebuchet MS"/>
                <a:ea typeface="Trebuchet MS"/>
                <a:cs typeface="Trebuchet MS"/>
                <a:sym typeface="Trebuchet MS"/>
              </a:rPr>
              <a:t>Re-route, not re-rank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84250" y="571346"/>
            <a:ext cx="656934" cy="42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09625" y="606950"/>
            <a:ext cx="1616576" cy="37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1225" y="1591075"/>
            <a:ext cx="4134499" cy="178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B14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/>
          <p:nvPr/>
        </p:nvSpPr>
        <p:spPr>
          <a:xfrm>
            <a:off x="425196" y="28803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900"/>
              <a:buFont typeface="Consolas"/>
              <a:buNone/>
            </a:pPr>
            <a:r>
              <a:rPr b="1" lang="en-GB" sz="900">
                <a:solidFill>
                  <a:srgbClr val="76B900"/>
                </a:solidFill>
                <a:latin typeface="Consolas"/>
                <a:ea typeface="Consolas"/>
                <a:cs typeface="Consolas"/>
                <a:sym typeface="Consolas"/>
              </a:rPr>
              <a:t>SEE · REAL-TIME INFERENCE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425196" y="493776"/>
            <a:ext cx="75438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2400"/>
              <a:buFont typeface="Trebuchet MS"/>
              <a:buNone/>
            </a:pPr>
            <a:r>
              <a:rPr b="1" lang="en-GB" sz="2400">
                <a:solidFill>
                  <a:srgbClr val="E8EEF9"/>
                </a:solidFill>
                <a:latin typeface="Trebuchet MS"/>
                <a:ea typeface="Trebuchet MS"/>
                <a:cs typeface="Trebuchet MS"/>
                <a:sym typeface="Trebuchet MS"/>
              </a:rPr>
              <a:t>Eyes for  </a:t>
            </a:r>
            <a:r>
              <a:rPr b="1" lang="en-GB" sz="2400">
                <a:solidFill>
                  <a:srgbClr val="4FC3F7"/>
                </a:solidFill>
                <a:latin typeface="Trebuchet MS"/>
                <a:ea typeface="Trebuchet MS"/>
                <a:cs typeface="Trebuchet MS"/>
                <a:sym typeface="Trebuchet MS"/>
              </a:rPr>
              <a:t>blind walkers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5563895" y="342900"/>
            <a:ext cx="31546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on-device · screen-free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18"/>
          <p:cNvCxnSpPr/>
          <p:nvPr/>
        </p:nvCxnSpPr>
        <p:spPr>
          <a:xfrm>
            <a:off x="425196" y="1042416"/>
            <a:ext cx="8293379" cy="0"/>
          </a:xfrm>
          <a:prstGeom prst="straightConnector1">
            <a:avLst/>
          </a:prstGeom>
          <a:noFill/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18"/>
          <p:cNvSpPr/>
          <p:nvPr/>
        </p:nvSpPr>
        <p:spPr>
          <a:xfrm>
            <a:off x="630936" y="1357884"/>
            <a:ext cx="36347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LIVE HAZARD WATCH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3949979" y="1220724"/>
            <a:ext cx="4151376" cy="1371600"/>
          </a:xfrm>
          <a:prstGeom prst="rect">
            <a:avLst/>
          </a:prstGeom>
          <a:solidFill>
            <a:srgbClr val="0D1726"/>
          </a:solidFill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27843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4158005" y="1344168"/>
            <a:ext cx="3771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VISION PIPELINE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4158005" y="1591056"/>
            <a:ext cx="3771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onsolas"/>
              <a:buNone/>
            </a:pPr>
            <a:r>
              <a:rPr lang="en-GB" sz="1000">
                <a:solidFill>
                  <a:srgbClr val="E8EEF9"/>
                </a:solidFill>
                <a:latin typeface="Consolas"/>
                <a:ea typeface="Consolas"/>
                <a:cs typeface="Consolas"/>
                <a:sym typeface="Consolas"/>
              </a:rPr>
              <a:t>camera </a:t>
            </a:r>
            <a:r>
              <a:rPr lang="en-GB" sz="1000">
                <a:solidFill>
                  <a:srgbClr val="E8EEF9"/>
                </a:solidFill>
                <a:latin typeface="Consolas"/>
                <a:ea typeface="Consolas"/>
                <a:cs typeface="Consolas"/>
                <a:sym typeface="Consolas"/>
              </a:rPr>
              <a:t>live</a:t>
            </a:r>
            <a:r>
              <a:rPr lang="en-GB" sz="1000">
                <a:solidFill>
                  <a:srgbClr val="E8EEF9"/>
                </a:solidFill>
                <a:latin typeface="Consolas"/>
                <a:ea typeface="Consolas"/>
                <a:cs typeface="Consolas"/>
                <a:sym typeface="Consolas"/>
              </a:rPr>
              <a:t> stream</a:t>
            </a:r>
            <a:r>
              <a:rPr b="1" lang="en-GB" sz="1000">
                <a:solidFill>
                  <a:srgbClr val="76B900"/>
                </a:solidFill>
                <a:latin typeface="Consolas"/>
                <a:ea typeface="Consolas"/>
                <a:cs typeface="Consolas"/>
                <a:sym typeface="Consolas"/>
              </a:rPr>
              <a:t>  →  </a:t>
            </a:r>
            <a:r>
              <a:rPr b="1" lang="en-GB" sz="1000">
                <a:solidFill>
                  <a:srgbClr val="B388FF"/>
                </a:solidFill>
                <a:latin typeface="Consolas"/>
                <a:ea typeface="Consolas"/>
                <a:cs typeface="Consolas"/>
                <a:sym typeface="Consolas"/>
              </a:rPr>
              <a:t>YOLO11n.pt</a:t>
            </a:r>
            <a:r>
              <a:rPr lang="en-GB" sz="1000">
                <a:solidFill>
                  <a:srgbClr val="E8EEF9"/>
                </a:solidFill>
                <a:latin typeface="Consolas"/>
                <a:ea typeface="Consolas"/>
                <a:cs typeface="Consolas"/>
                <a:sym typeface="Consolas"/>
              </a:rPr>
              <a:t>  →  detections</a:t>
            </a:r>
            <a:r>
              <a:rPr b="1" lang="en-GB" sz="1000">
                <a:solidFill>
                  <a:srgbClr val="76B900"/>
                </a:solidFill>
                <a:latin typeface="Consolas"/>
                <a:ea typeface="Consolas"/>
                <a:cs typeface="Consolas"/>
                <a:sym typeface="Consolas"/>
              </a:rPr>
              <a:t>  →  </a:t>
            </a:r>
            <a:r>
              <a:rPr lang="en-GB" sz="1000">
                <a:solidFill>
                  <a:srgbClr val="E8EEF9"/>
                </a:solidFill>
                <a:latin typeface="Consolas"/>
                <a:ea typeface="Consolas"/>
                <a:cs typeface="Consolas"/>
                <a:sym typeface="Consolas"/>
              </a:rPr>
              <a:t>distance + direction</a:t>
            </a:r>
            <a:r>
              <a:rPr b="1" lang="en-GB" sz="1000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  →  spatial audio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4158005" y="2159139"/>
            <a:ext cx="37719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8B0"/>
              </a:buClr>
              <a:buSzPts val="1100"/>
              <a:buFont typeface="Calibri"/>
              <a:buNone/>
            </a:pPr>
            <a:r>
              <a:rPr i="1" lang="en-GB" sz="1100">
                <a:solidFill>
                  <a:srgbClr val="34D8B0"/>
                </a:solidFill>
                <a:latin typeface="Calibri"/>
                <a:ea typeface="Calibri"/>
                <a:cs typeface="Calibri"/>
                <a:sym typeface="Calibri"/>
              </a:rPr>
              <a:t>“Please be careful. Person very close on the right. Person nearby ahead.”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3986555" y="2695194"/>
            <a:ext cx="4114800" cy="925830"/>
          </a:xfrm>
          <a:prstGeom prst="rect">
            <a:avLst/>
          </a:prstGeom>
          <a:solidFill>
            <a:srgbClr val="0D1726"/>
          </a:solidFill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27843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4192295" y="2811780"/>
            <a:ext cx="13030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88FF"/>
              </a:buClr>
              <a:buSzPts val="3000"/>
              <a:buFont typeface="Trebuchet MS"/>
              <a:buNone/>
            </a:pPr>
            <a:r>
              <a:rPr b="1" lang="en-GB" sz="3000">
                <a:solidFill>
                  <a:srgbClr val="B388FF"/>
                </a:solidFill>
                <a:latin typeface="Trebuchet MS"/>
                <a:ea typeface="Trebuchet MS"/>
                <a:cs typeface="Trebuchet MS"/>
                <a:sym typeface="Trebuchet MS"/>
              </a:rPr>
              <a:t>33</a:t>
            </a:r>
            <a:r>
              <a:rPr lang="en-GB" sz="1100">
                <a:solidFill>
                  <a:srgbClr val="8AA0C2"/>
                </a:solidFill>
                <a:latin typeface="Trebuchet MS"/>
                <a:ea typeface="Trebuchet MS"/>
                <a:cs typeface="Trebuchet MS"/>
                <a:sym typeface="Trebuchet MS"/>
              </a:rPr>
              <a:t> ms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4192295" y="3291840"/>
            <a:ext cx="13030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YOLO inference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5495315" y="2811780"/>
            <a:ext cx="13030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3000"/>
              <a:buFont typeface="Trebuchet MS"/>
              <a:buNone/>
            </a:pPr>
            <a:r>
              <a:rPr b="1" lang="en-GB" sz="3000">
                <a:solidFill>
                  <a:srgbClr val="E8EEF9"/>
                </a:solidFill>
                <a:latin typeface="Trebuchet MS"/>
                <a:ea typeface="Trebuchet MS"/>
                <a:cs typeface="Trebuchet MS"/>
                <a:sym typeface="Trebuchet MS"/>
              </a:rPr>
              <a:t>50</a:t>
            </a:r>
            <a:r>
              <a:rPr lang="en-GB" sz="1100">
                <a:solidFill>
                  <a:srgbClr val="8AA0C2"/>
                </a:solidFill>
                <a:latin typeface="Trebuchet MS"/>
                <a:ea typeface="Trebuchet MS"/>
                <a:cs typeface="Trebuchet MS"/>
                <a:sym typeface="Trebuchet MS"/>
              </a:rPr>
              <a:t> ms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5495315" y="3291840"/>
            <a:ext cx="13030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Spatial</a:t>
            </a: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 audio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6798335" y="2811780"/>
            <a:ext cx="11658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3000"/>
              <a:buFont typeface="Trebuchet MS"/>
              <a:buNone/>
            </a:pPr>
            <a:r>
              <a:rPr b="1" lang="en-GB" sz="3000">
                <a:solidFill>
                  <a:srgbClr val="76B90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GB" sz="1100">
                <a:solidFill>
                  <a:srgbClr val="8AA0C2"/>
                </a:solidFill>
                <a:latin typeface="Trebuchet MS"/>
                <a:ea typeface="Trebuchet MS"/>
                <a:cs typeface="Trebuchet MS"/>
                <a:sym typeface="Trebuchet MS"/>
              </a:rPr>
              <a:t> screens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6798335" y="3291840"/>
            <a:ext cx="11658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eyes-free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3986555" y="3723894"/>
            <a:ext cx="4114800" cy="925830"/>
          </a:xfrm>
          <a:prstGeom prst="rect">
            <a:avLst/>
          </a:prstGeom>
          <a:solidFill>
            <a:srgbClr val="0D1726"/>
          </a:solidFill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27843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4158005" y="3847338"/>
            <a:ext cx="3771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WHY IT MATTERS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4158005" y="408051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Char char="•"/>
            </a:pPr>
            <a:r>
              <a:rPr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Direction + distance → lower cognitive load than a beep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40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Char char="•"/>
            </a:pPr>
            <a:r>
              <a:rPr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Runs on Spark beside the route engine — no cloud round-trip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425196" y="4828032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LAYLA</a:t>
            </a: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  ·  Accessibility Mobility Intelligence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6386855" y="4828032"/>
            <a:ext cx="17145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04 · How we built it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560841" y="4828032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76B9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18"/>
          <p:cNvPicPr preferRelativeResize="0"/>
          <p:nvPr/>
        </p:nvPicPr>
        <p:blipFill rotWithShape="1">
          <a:blip r:embed="rId3">
            <a:alphaModFix/>
          </a:blip>
          <a:srcRect b="11849" l="0" r="0" t="3655"/>
          <a:stretch/>
        </p:blipFill>
        <p:spPr>
          <a:xfrm>
            <a:off x="517327" y="1355246"/>
            <a:ext cx="3131129" cy="301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B14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"/>
          <p:cNvSpPr/>
          <p:nvPr/>
        </p:nvSpPr>
        <p:spPr>
          <a:xfrm>
            <a:off x="425196" y="28803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900"/>
              <a:buFont typeface="Consolas"/>
              <a:buNone/>
            </a:pPr>
            <a:r>
              <a:rPr b="1" lang="en-GB" sz="900">
                <a:solidFill>
                  <a:srgbClr val="76B900"/>
                </a:solidFill>
                <a:latin typeface="Consolas"/>
                <a:ea typeface="Consolas"/>
                <a:cs typeface="Consolas"/>
                <a:sym typeface="Consolas"/>
              </a:rPr>
              <a:t>IMPROVE · AGENTIC LOOP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425196" y="493776"/>
            <a:ext cx="75438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2400"/>
              <a:buFont typeface="Trebuchet MS"/>
              <a:buNone/>
            </a:pPr>
            <a:r>
              <a:rPr b="1" lang="en-GB" sz="2400">
                <a:solidFill>
                  <a:srgbClr val="E8EEF9"/>
                </a:solidFill>
                <a:latin typeface="Trebuchet MS"/>
                <a:ea typeface="Trebuchet MS"/>
                <a:cs typeface="Trebuchet MS"/>
                <a:sym typeface="Trebuchet MS"/>
              </a:rPr>
              <a:t>An agent that  </a:t>
            </a:r>
            <a:r>
              <a:rPr b="1" lang="en-GB" sz="2400">
                <a:solidFill>
                  <a:srgbClr val="4FC3F7"/>
                </a:solidFill>
                <a:latin typeface="Trebuchet MS"/>
                <a:ea typeface="Trebuchet MS"/>
                <a:cs typeface="Trebuchet MS"/>
                <a:sym typeface="Trebuchet MS"/>
              </a:rPr>
              <a:t>acts on the city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5563895" y="342900"/>
            <a:ext cx="31546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vision → authority → email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19"/>
          <p:cNvCxnSpPr/>
          <p:nvPr/>
        </p:nvCxnSpPr>
        <p:spPr>
          <a:xfrm>
            <a:off x="425196" y="1042416"/>
            <a:ext cx="8293379" cy="0"/>
          </a:xfrm>
          <a:prstGeom prst="straightConnector1">
            <a:avLst/>
          </a:prstGeom>
          <a:noFill/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19"/>
          <p:cNvSpPr/>
          <p:nvPr/>
        </p:nvSpPr>
        <p:spPr>
          <a:xfrm>
            <a:off x="425196" y="1337310"/>
            <a:ext cx="1466652" cy="1368822"/>
          </a:xfrm>
          <a:prstGeom prst="rect">
            <a:avLst/>
          </a:prstGeom>
          <a:solidFill>
            <a:srgbClr val="0D1726"/>
          </a:solidFill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27843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939066" y="1508760"/>
            <a:ext cx="438912" cy="438912"/>
          </a:xfrm>
          <a:prstGeom prst="ellipse">
            <a:avLst/>
          </a:prstGeom>
          <a:solidFill>
            <a:srgbClr val="0C1730"/>
          </a:solidFill>
          <a:ln cap="flat" cmpd="sng" w="19050">
            <a:solidFill>
              <a:srgbClr val="CF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939066" y="150876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D8E8"/>
              </a:buClr>
              <a:buSzPts val="1700"/>
              <a:buFont typeface="Trebuchet MS"/>
              <a:buNone/>
            </a:pPr>
            <a:r>
              <a:rPr b="1" lang="en-GB" sz="1700">
                <a:solidFill>
                  <a:srgbClr val="CFD8E8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493776" y="2091690"/>
            <a:ext cx="13294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User taps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Report hazard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1888419" y="2023110"/>
            <a:ext cx="246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700"/>
              <a:buFont typeface="Trebuchet MS"/>
              <a:buNone/>
            </a:pPr>
            <a:r>
              <a:rPr b="1" lang="en-GB" sz="1700">
                <a:solidFill>
                  <a:srgbClr val="76B900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2131878" y="1337310"/>
            <a:ext cx="1466652" cy="1368821"/>
          </a:xfrm>
          <a:prstGeom prst="rect">
            <a:avLst/>
          </a:prstGeom>
          <a:solidFill>
            <a:srgbClr val="0D1726"/>
          </a:solidFill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27843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2645748" y="1508760"/>
            <a:ext cx="438912" cy="438912"/>
          </a:xfrm>
          <a:prstGeom prst="ellipse">
            <a:avLst/>
          </a:prstGeom>
          <a:solidFill>
            <a:srgbClr val="0C1730"/>
          </a:solidFill>
          <a:ln cap="flat" cmpd="sng" w="19050">
            <a:solidFill>
              <a:srgbClr val="FFE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2645748" y="150876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08A"/>
              </a:buClr>
              <a:buSzPts val="1700"/>
              <a:buFont typeface="Trebuchet MS"/>
              <a:buNone/>
            </a:pPr>
            <a:r>
              <a:rPr b="1" lang="en-GB" sz="1700">
                <a:solidFill>
                  <a:srgbClr val="FFE08A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2200458" y="2091690"/>
            <a:ext cx="13294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Vision verifies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the hazard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3595101" y="2023110"/>
            <a:ext cx="246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700"/>
              <a:buFont typeface="Trebuchet MS"/>
              <a:buNone/>
            </a:pPr>
            <a:r>
              <a:rPr b="1" lang="en-GB" sz="1700">
                <a:solidFill>
                  <a:srgbClr val="76B900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3838560" y="1337310"/>
            <a:ext cx="1466652" cy="1368821"/>
          </a:xfrm>
          <a:prstGeom prst="rect">
            <a:avLst/>
          </a:prstGeom>
          <a:solidFill>
            <a:srgbClr val="0D1726"/>
          </a:solidFill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27843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4352430" y="1508760"/>
            <a:ext cx="438912" cy="438912"/>
          </a:xfrm>
          <a:prstGeom prst="ellipse">
            <a:avLst/>
          </a:prstGeom>
          <a:solidFill>
            <a:srgbClr val="0C1730"/>
          </a:solidFill>
          <a:ln cap="flat" cmpd="sng" w="19050">
            <a:solidFill>
              <a:srgbClr val="CF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4352430" y="150876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D8E8"/>
              </a:buClr>
              <a:buSzPts val="1700"/>
              <a:buFont typeface="Trebuchet MS"/>
              <a:buNone/>
            </a:pPr>
            <a:r>
              <a:rPr b="1" lang="en-GB" sz="1700">
                <a:solidFill>
                  <a:srgbClr val="CFD8E8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3907140" y="2091690"/>
            <a:ext cx="13294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Web search finds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the right authority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5301783" y="2023110"/>
            <a:ext cx="246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700"/>
              <a:buFont typeface="Trebuchet MS"/>
              <a:buNone/>
            </a:pPr>
            <a:r>
              <a:rPr b="1" lang="en-GB" sz="1700">
                <a:solidFill>
                  <a:srgbClr val="76B900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5545242" y="1337310"/>
            <a:ext cx="1466652" cy="1368821"/>
          </a:xfrm>
          <a:prstGeom prst="rect">
            <a:avLst/>
          </a:prstGeom>
          <a:solidFill>
            <a:srgbClr val="0D1726"/>
          </a:solidFill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27843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6059111" y="1508760"/>
            <a:ext cx="438912" cy="438912"/>
          </a:xfrm>
          <a:prstGeom prst="ellipse">
            <a:avLst/>
          </a:prstGeom>
          <a:solidFill>
            <a:srgbClr val="0C1730"/>
          </a:solidFill>
          <a:ln cap="flat" cmpd="sng" w="19050">
            <a:solidFill>
              <a:srgbClr val="FFE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6059111" y="150876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08A"/>
              </a:buClr>
              <a:buSzPts val="1700"/>
              <a:buFont typeface="Trebuchet MS"/>
              <a:buNone/>
            </a:pPr>
            <a:r>
              <a:rPr b="1" lang="en-GB" sz="1700">
                <a:solidFill>
                  <a:srgbClr val="FFE08A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5613822" y="2091690"/>
            <a:ext cx="13294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Drafts 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professional email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7008464" y="2023110"/>
            <a:ext cx="246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700"/>
              <a:buFont typeface="Trebuchet MS"/>
              <a:buNone/>
            </a:pPr>
            <a:r>
              <a:rPr b="1" lang="en-GB" sz="1700">
                <a:solidFill>
                  <a:srgbClr val="76B900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7251923" y="1337310"/>
            <a:ext cx="1466652" cy="1368819"/>
          </a:xfrm>
          <a:prstGeom prst="rect">
            <a:avLst/>
          </a:prstGeom>
          <a:solidFill>
            <a:srgbClr val="0D1726"/>
          </a:solidFill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27843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7765793" y="1508760"/>
            <a:ext cx="438912" cy="438912"/>
          </a:xfrm>
          <a:prstGeom prst="ellipse">
            <a:avLst/>
          </a:prstGeom>
          <a:solidFill>
            <a:srgbClr val="0C1730"/>
          </a:solidFill>
          <a:ln cap="flat" cmpd="sng" w="19050">
            <a:solidFill>
              <a:srgbClr val="76B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7765793" y="150876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700"/>
              <a:buFont typeface="Trebuchet MS"/>
              <a:buNone/>
            </a:pPr>
            <a:r>
              <a:rPr b="1" lang="en-GB" sz="1700">
                <a:solidFill>
                  <a:srgbClr val="76B900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7320503" y="2091690"/>
            <a:ext cx="13294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Sends — logged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to the map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4571885" y="3278123"/>
            <a:ext cx="3703320" cy="1405890"/>
          </a:xfrm>
          <a:prstGeom prst="rect">
            <a:avLst/>
          </a:prstGeom>
          <a:solidFill>
            <a:srgbClr val="0D1726"/>
          </a:solidFill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27843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5191506" y="3380994"/>
            <a:ext cx="33604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MODEL CHOICE &amp; TRADEOFF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5191506" y="3614166"/>
            <a:ext cx="3566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Char char="•"/>
            </a:pPr>
            <a:r>
              <a:rPr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Vision + web search in one agent call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Char char="•"/>
            </a:pPr>
            <a:r>
              <a:rPr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Runs on Nebius for live web lookup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8AA0C2"/>
              </a:buClr>
              <a:buSzPts val="1000"/>
              <a:buFont typeface="Calibri"/>
              <a:buChar char="•"/>
            </a:pPr>
            <a:r>
              <a:rPr lang="en-GB" sz="1000">
                <a:solidFill>
                  <a:srgbClr val="8AA0C2"/>
                </a:solidFill>
                <a:latin typeface="Calibri"/>
                <a:ea typeface="Calibri"/>
                <a:cs typeface="Calibri"/>
                <a:sym typeface="Calibri"/>
              </a:rPr>
              <a:t>⊘ Not on-device — fires only on Report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34D8B0"/>
              </a:buClr>
              <a:buSzPts val="1000"/>
              <a:buFont typeface="Calibri"/>
              <a:buChar char="•"/>
            </a:pPr>
            <a:r>
              <a:rPr b="1" lang="en-GB" sz="1000">
                <a:solidFill>
                  <a:srgbClr val="34D8B0"/>
                </a:solidFill>
                <a:latin typeface="Calibri"/>
                <a:ea typeface="Calibri"/>
                <a:cs typeface="Calibri"/>
                <a:sym typeface="Calibri"/>
              </a:rPr>
              <a:t>Everyone contributes → the map heals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425196" y="4828032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LAYLA</a:t>
            </a: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  ·  Accessibility Mobility Intelligence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6386855" y="4828032"/>
            <a:ext cx="17145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04 · How we built it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8560841" y="4828032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76B9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006" y="2901499"/>
            <a:ext cx="3073419" cy="1857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B14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"/>
          <p:cNvSpPr/>
          <p:nvPr/>
        </p:nvSpPr>
        <p:spPr>
          <a:xfrm>
            <a:off x="425196" y="28803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900"/>
              <a:buFont typeface="Consolas"/>
              <a:buNone/>
            </a:pPr>
            <a:r>
              <a:rPr b="1" lang="en-GB" sz="900">
                <a:solidFill>
                  <a:srgbClr val="76B900"/>
                </a:solidFill>
                <a:latin typeface="Consolas"/>
                <a:ea typeface="Consolas"/>
                <a:cs typeface="Consolas"/>
                <a:sym typeface="Consolas"/>
              </a:rPr>
              <a:t>MODELS &amp; SYSTEM DESIGN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425196" y="493776"/>
            <a:ext cx="75438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2400"/>
              <a:buFont typeface="Trebuchet MS"/>
              <a:buNone/>
            </a:pPr>
            <a:r>
              <a:rPr b="1" lang="en-GB" sz="2400">
                <a:solidFill>
                  <a:srgbClr val="E8EEF9"/>
                </a:solidFill>
                <a:latin typeface="Trebuchet MS"/>
                <a:ea typeface="Trebuchet MS"/>
                <a:cs typeface="Trebuchet MS"/>
                <a:sym typeface="Trebuchet MS"/>
              </a:rPr>
              <a:t>Why </a:t>
            </a:r>
            <a:r>
              <a:rPr b="1" lang="en-GB" sz="2400">
                <a:solidFill>
                  <a:srgbClr val="4FC3F7"/>
                </a:solidFill>
                <a:latin typeface="Trebuchet MS"/>
                <a:ea typeface="Trebuchet MS"/>
                <a:cs typeface="Trebuchet MS"/>
                <a:sym typeface="Trebuchet MS"/>
              </a:rPr>
              <a:t>DGX park / Nano AI Station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5563895" y="342900"/>
            <a:ext cx="31546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hardware-driven choices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20"/>
          <p:cNvCxnSpPr/>
          <p:nvPr/>
        </p:nvCxnSpPr>
        <p:spPr>
          <a:xfrm>
            <a:off x="425196" y="1042416"/>
            <a:ext cx="8293379" cy="0"/>
          </a:xfrm>
          <a:prstGeom prst="straightConnector1">
            <a:avLst/>
          </a:prstGeom>
          <a:noFill/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20"/>
          <p:cNvSpPr/>
          <p:nvPr/>
        </p:nvSpPr>
        <p:spPr>
          <a:xfrm>
            <a:off x="425196" y="1234440"/>
            <a:ext cx="4046220" cy="3429000"/>
          </a:xfrm>
          <a:prstGeom prst="rect">
            <a:avLst/>
          </a:prstGeom>
          <a:solidFill>
            <a:srgbClr val="0D1726"/>
          </a:solidFill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27843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630936" y="1357884"/>
            <a:ext cx="3703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REASONING BRAIN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630936" y="1591056"/>
            <a:ext cx="3703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2000"/>
              <a:buFont typeface="Trebuchet MS"/>
              <a:buNone/>
            </a:pPr>
            <a:r>
              <a:rPr b="1" lang="en-GB" sz="2000">
                <a:solidFill>
                  <a:srgbClr val="E8EEF9"/>
                </a:solidFill>
                <a:latin typeface="Trebuchet MS"/>
                <a:ea typeface="Trebuchet MS"/>
                <a:cs typeface="Trebuchet MS"/>
                <a:sym typeface="Trebuchet MS"/>
              </a:rPr>
              <a:t>Nemotron-3-Nano-Omni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1100"/>
              <a:buFont typeface="Consolas"/>
              <a:buNone/>
            </a:pPr>
            <a:r>
              <a:rPr lang="en-GB" sz="11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30B · NVFP4 · 15 GB · 128K ctx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630936" y="2400300"/>
            <a:ext cx="377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03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1100"/>
              <a:buFont typeface="Calibri"/>
              <a:buChar char="•"/>
            </a:pPr>
            <a:r>
              <a:rPr b="1" lang="en-GB" sz="11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Multimodal — voice intent + image in ONE model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E8EEF9"/>
              </a:buClr>
              <a:buSzPts val="1100"/>
              <a:buFont typeface="Calibri"/>
              <a:buChar char="•"/>
            </a:pPr>
            <a:r>
              <a:rPr lang="en-GB" sz="11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MoE — 3B active per token → fast inference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E8EEF9"/>
              </a:buClr>
              <a:buSzPts val="1100"/>
              <a:buFont typeface="Calibri"/>
              <a:buChar char="•"/>
            </a:pPr>
            <a:r>
              <a:rPr lang="en-GB" sz="11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Reasoning toggle for hard queries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E8EEF9"/>
              </a:buClr>
              <a:buSzPts val="1100"/>
              <a:buFont typeface="Calibri"/>
              <a:buChar char="•"/>
            </a:pPr>
            <a:r>
              <a:rPr lang="en-GB" sz="11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NemoClaw </a:t>
            </a:r>
            <a:r>
              <a:rPr lang="en-GB" sz="11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tool-calling → clean agent loop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onsolas"/>
              <a:buChar char="•"/>
            </a:pPr>
            <a:r>
              <a:rPr lang="en-GB" sz="1100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Cloud ⇄ edge: LLM_PROVIDER = nemotron nano omni | nebius | backend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8AA0C2"/>
              </a:buClr>
              <a:buSzPts val="1100"/>
              <a:buFont typeface="Calibri"/>
              <a:buChar char="•"/>
            </a:pPr>
            <a:r>
              <a:rPr lang="en-GB" sz="1100">
                <a:solidFill>
                  <a:srgbClr val="8AA0C2"/>
                </a:solidFill>
                <a:latin typeface="Calibri"/>
                <a:ea typeface="Calibri"/>
                <a:cs typeface="Calibri"/>
                <a:sym typeface="Calibri"/>
              </a:rPr>
              <a:t>Same model on DGX or Nebius · one env var · zero code change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4677156" y="1234440"/>
            <a:ext cx="4046220" cy="1405890"/>
          </a:xfrm>
          <a:prstGeom prst="rect">
            <a:avLst/>
          </a:prstGeom>
          <a:solidFill>
            <a:srgbClr val="0D1726"/>
          </a:solidFill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27843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4848606" y="1357884"/>
            <a:ext cx="3703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128 GB UNIFIED MEMORY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4848606" y="1604772"/>
            <a:ext cx="3703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900"/>
              <a:buFont typeface="Consolas"/>
              <a:buNone/>
            </a:pPr>
            <a:r>
              <a:rPr lang="en-GB" sz="9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was  </a:t>
            </a:r>
            <a:r>
              <a:rPr lang="en-GB" sz="900">
                <a:solidFill>
                  <a:srgbClr val="FF6B5E"/>
                </a:solidFill>
                <a:latin typeface="Consolas"/>
                <a:ea typeface="Consolas"/>
                <a:cs typeface="Consolas"/>
                <a:sym typeface="Consolas"/>
              </a:rPr>
              <a:t>model→GPU → PCIe shuffle → CPU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4848606" y="1824228"/>
            <a:ext cx="3703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900"/>
              <a:buFont typeface="Consolas"/>
              <a:buNone/>
            </a:pPr>
            <a:r>
              <a:rPr lang="en-GB" sz="9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now  </a:t>
            </a:r>
            <a:r>
              <a:rPr lang="en-GB" sz="900">
                <a:solidFill>
                  <a:srgbClr val="34D8B0"/>
                </a:solidFill>
                <a:latin typeface="Consolas"/>
                <a:ea typeface="Consolas"/>
                <a:cs typeface="Consolas"/>
                <a:sym typeface="Consolas"/>
              </a:rPr>
              <a:t>one address space · zero copy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4848606" y="2098548"/>
            <a:ext cx="37719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Char char="•"/>
            </a:pPr>
            <a:r>
              <a:rPr b="1"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Nemotron + route graph + YOLO + Next.js coexist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4677156" y="2743200"/>
            <a:ext cx="4046220" cy="925830"/>
          </a:xfrm>
          <a:prstGeom prst="rect">
            <a:avLst/>
          </a:prstGeom>
          <a:solidFill>
            <a:srgbClr val="0D1726"/>
          </a:solidFill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27843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4882896" y="2866644"/>
            <a:ext cx="12344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3000"/>
              <a:buFont typeface="Trebuchet MS"/>
              <a:buNone/>
            </a:pPr>
            <a:r>
              <a:rPr b="1" lang="en-GB" sz="3000">
                <a:solidFill>
                  <a:srgbClr val="E8EEF9"/>
                </a:solidFill>
                <a:latin typeface="Trebuchet MS"/>
                <a:ea typeface="Trebuchet MS"/>
                <a:cs typeface="Trebuchet MS"/>
                <a:sym typeface="Trebuchet MS"/>
              </a:rPr>
              <a:t>30</a:t>
            </a:r>
            <a:r>
              <a:rPr lang="en-GB" sz="1100">
                <a:solidFill>
                  <a:srgbClr val="8AA0C2"/>
                </a:solidFill>
                <a:latin typeface="Trebuchet MS"/>
                <a:ea typeface="Trebuchet MS"/>
                <a:cs typeface="Trebuchet MS"/>
                <a:sym typeface="Trebuchet MS"/>
              </a:rPr>
              <a:t> B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4882896" y="3346704"/>
            <a:ext cx="12344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parameters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6117336" y="2866644"/>
            <a:ext cx="12344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24A"/>
              </a:buClr>
              <a:buSzPts val="3000"/>
              <a:buFont typeface="Trebuchet MS"/>
              <a:buNone/>
            </a:pPr>
            <a:r>
              <a:rPr b="1" lang="en-GB" sz="3000">
                <a:solidFill>
                  <a:srgbClr val="FFD24A"/>
                </a:solidFill>
                <a:latin typeface="Trebuchet MS"/>
                <a:ea typeface="Trebuchet MS"/>
                <a:cs typeface="Trebuchet MS"/>
                <a:sym typeface="Trebuchet MS"/>
              </a:rPr>
              <a:t>15</a:t>
            </a:r>
            <a:r>
              <a:rPr lang="en-GB" sz="1100">
                <a:solidFill>
                  <a:srgbClr val="8AA0C2"/>
                </a:solidFill>
                <a:latin typeface="Trebuchet MS"/>
                <a:ea typeface="Trebuchet MS"/>
                <a:cs typeface="Trebuchet MS"/>
                <a:sym typeface="Trebuchet MS"/>
              </a:rPr>
              <a:t> GB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6117336" y="3346704"/>
            <a:ext cx="12344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NVFP4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7351776" y="2866644"/>
            <a:ext cx="12344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3000"/>
              <a:buFont typeface="Trebuchet MS"/>
              <a:buNone/>
            </a:pPr>
            <a:r>
              <a:rPr b="1" lang="en-GB" sz="3000">
                <a:solidFill>
                  <a:srgbClr val="76B900"/>
                </a:solidFill>
                <a:latin typeface="Trebuchet MS"/>
                <a:ea typeface="Trebuchet MS"/>
                <a:cs typeface="Trebuchet MS"/>
                <a:sym typeface="Trebuchet MS"/>
              </a:rPr>
              <a:t>113</a:t>
            </a:r>
            <a:r>
              <a:rPr lang="en-GB" sz="1100">
                <a:solidFill>
                  <a:srgbClr val="8AA0C2"/>
                </a:solidFill>
                <a:latin typeface="Trebuchet MS"/>
                <a:ea typeface="Trebuchet MS"/>
                <a:cs typeface="Trebuchet MS"/>
                <a:sym typeface="Trebuchet MS"/>
              </a:rPr>
              <a:t> GB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7351776" y="3346704"/>
            <a:ext cx="12344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headroom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4677156" y="3771900"/>
            <a:ext cx="4046220" cy="891540"/>
          </a:xfrm>
          <a:prstGeom prst="rect">
            <a:avLst/>
          </a:prstGeom>
          <a:solidFill>
            <a:srgbClr val="0D1726"/>
          </a:solidFill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27843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4848606" y="3895344"/>
            <a:ext cx="3703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ARM64 GB10 · sm_121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4848606" y="4114800"/>
            <a:ext cx="37719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900"/>
              <a:buFont typeface="Consolas"/>
              <a:buChar char="•"/>
            </a:pPr>
            <a:r>
              <a:rPr lang="en-GB" sz="900">
                <a:solidFill>
                  <a:srgbClr val="E8EEF9"/>
                </a:solidFill>
                <a:latin typeface="Consolas"/>
                <a:ea typeface="Consolas"/>
                <a:cs typeface="Consolas"/>
                <a:sym typeface="Consolas"/>
              </a:rPr>
              <a:t>vLLM v0.20-aarch64-cu130 — native, no emulation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200"/>
              </a:spcBef>
              <a:spcAft>
                <a:spcPts val="0"/>
              </a:spcAft>
              <a:buClr>
                <a:srgbClr val="E8EEF9"/>
              </a:buClr>
              <a:buSzPts val="900"/>
              <a:buFont typeface="Consolas"/>
              <a:buChar char="•"/>
            </a:pPr>
            <a:r>
              <a:rPr lang="en-GB" sz="900">
                <a:solidFill>
                  <a:srgbClr val="E8EEF9"/>
                </a:solidFill>
                <a:latin typeface="Consolas"/>
                <a:ea typeface="Consolas"/>
                <a:cs typeface="Consolas"/>
                <a:sym typeface="Consolas"/>
              </a:rPr>
              <a:t>Marlin NVFP4 GEMM backend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425196" y="4828032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LAYLA</a:t>
            </a: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  ·  Accessibility Mobility Intelligence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6386855" y="4828032"/>
            <a:ext cx="17145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04 · How we built it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8560841" y="4828032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76B90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2825" y="446413"/>
            <a:ext cx="764973" cy="561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6629" y="453525"/>
            <a:ext cx="764973" cy="55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B14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"/>
          <p:cNvSpPr/>
          <p:nvPr/>
        </p:nvSpPr>
        <p:spPr>
          <a:xfrm>
            <a:off x="425196" y="28803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900"/>
              <a:buFont typeface="Consolas"/>
              <a:buNone/>
            </a:pPr>
            <a:r>
              <a:rPr b="1" lang="en-GB" sz="900">
                <a:solidFill>
                  <a:srgbClr val="76B900"/>
                </a:solidFill>
                <a:latin typeface="Consolas"/>
                <a:ea typeface="Consolas"/>
                <a:cs typeface="Consolas"/>
                <a:sym typeface="Consolas"/>
              </a:rPr>
              <a:t>CHALLENGES &amp; SOLUTIONS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425196" y="493776"/>
            <a:ext cx="75438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2400"/>
              <a:buFont typeface="Trebuchet MS"/>
              <a:buNone/>
            </a:pPr>
            <a:r>
              <a:rPr b="1" lang="en-GB" sz="2400">
                <a:solidFill>
                  <a:srgbClr val="E8EEF9"/>
                </a:solidFill>
                <a:latin typeface="Trebuchet MS"/>
                <a:ea typeface="Trebuchet MS"/>
                <a:cs typeface="Trebuchet MS"/>
                <a:sym typeface="Trebuchet MS"/>
              </a:rPr>
              <a:t>What we pushed,  </a:t>
            </a:r>
            <a:r>
              <a:rPr b="1" lang="en-GB" sz="2400">
                <a:solidFill>
                  <a:srgbClr val="4FC3F7"/>
                </a:solidFill>
                <a:latin typeface="Trebuchet MS"/>
                <a:ea typeface="Trebuchet MS"/>
                <a:cs typeface="Trebuchet MS"/>
                <a:sym typeface="Trebuchet MS"/>
              </a:rPr>
              <a:t>what we solved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5563895" y="342900"/>
            <a:ext cx="31546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24 hours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p21"/>
          <p:cNvCxnSpPr/>
          <p:nvPr/>
        </p:nvCxnSpPr>
        <p:spPr>
          <a:xfrm>
            <a:off x="425196" y="1042416"/>
            <a:ext cx="8293379" cy="0"/>
          </a:xfrm>
          <a:prstGeom prst="straightConnector1">
            <a:avLst/>
          </a:prstGeom>
          <a:noFill/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6" name="Google Shape;276;p21"/>
          <p:cNvSpPr/>
          <p:nvPr/>
        </p:nvSpPr>
        <p:spPr>
          <a:xfrm>
            <a:off x="425196" y="1337310"/>
            <a:ext cx="4800600" cy="960120"/>
          </a:xfrm>
          <a:prstGeom prst="rect">
            <a:avLst/>
          </a:prstGeom>
          <a:solidFill>
            <a:srgbClr val="0D1726"/>
          </a:solidFill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27843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630936" y="1488186"/>
            <a:ext cx="43891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900"/>
              <a:buFont typeface="Consolas"/>
              <a:buNone/>
            </a:pPr>
            <a:r>
              <a:rPr b="1" lang="en-GB" sz="9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Fused graph build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630936" y="1789938"/>
            <a:ext cx="4457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5E"/>
              </a:buClr>
              <a:buSzPts val="1000"/>
              <a:buFont typeface="Consolas"/>
              <a:buNone/>
            </a:pPr>
            <a:r>
              <a:rPr lang="en-GB" sz="1000">
                <a:solidFill>
                  <a:srgbClr val="FF6B5E"/>
                </a:solidFill>
                <a:latin typeface="Consolas"/>
                <a:ea typeface="Consolas"/>
                <a:cs typeface="Consolas"/>
                <a:sym typeface="Consolas"/>
              </a:rPr>
              <a:t>13 s every call</a:t>
            </a:r>
            <a:r>
              <a:rPr b="1" lang="en-GB" sz="1200">
                <a:solidFill>
                  <a:srgbClr val="76B900"/>
                </a:solidFill>
                <a:latin typeface="Trebuchet MS"/>
                <a:ea typeface="Trebuchet MS"/>
                <a:cs typeface="Trebuchet MS"/>
                <a:sym typeface="Trebuchet MS"/>
              </a:rPr>
              <a:t>   →   </a:t>
            </a:r>
            <a:r>
              <a:rPr lang="en-GB" sz="1000">
                <a:solidFill>
                  <a:srgbClr val="34D8B0"/>
                </a:solidFill>
                <a:latin typeface="Consolas"/>
                <a:ea typeface="Consolas"/>
                <a:cs typeface="Consolas"/>
                <a:sym typeface="Consolas"/>
              </a:rPr>
              <a:t>cache → 0.6 s reload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425196" y="2434590"/>
            <a:ext cx="4800600" cy="960120"/>
          </a:xfrm>
          <a:prstGeom prst="rect">
            <a:avLst/>
          </a:prstGeom>
          <a:solidFill>
            <a:srgbClr val="0D1726"/>
          </a:solidFill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27843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630936" y="2585466"/>
            <a:ext cx="43891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900"/>
              <a:buFont typeface="Consolas"/>
              <a:buNone/>
            </a:pPr>
            <a:r>
              <a:rPr b="1" lang="en-GB" sz="9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First-token latency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630936" y="2887218"/>
            <a:ext cx="4457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5E"/>
              </a:buClr>
              <a:buSzPts val="1000"/>
              <a:buFont typeface="Consolas"/>
              <a:buNone/>
            </a:pPr>
            <a:r>
              <a:rPr lang="en-GB" sz="1000">
                <a:solidFill>
                  <a:srgbClr val="FF6B5E"/>
                </a:solidFill>
                <a:latin typeface="Consolas"/>
                <a:ea typeface="Consolas"/>
                <a:cs typeface="Consolas"/>
                <a:sym typeface="Consolas"/>
              </a:rPr>
              <a:t>1.5 s · too slow for voice</a:t>
            </a:r>
            <a:r>
              <a:rPr b="1" lang="en-GB" sz="1200">
                <a:solidFill>
                  <a:srgbClr val="76B900"/>
                </a:solidFill>
                <a:latin typeface="Trebuchet MS"/>
                <a:ea typeface="Trebuchet MS"/>
                <a:cs typeface="Trebuchet MS"/>
                <a:sym typeface="Trebuchet MS"/>
              </a:rPr>
              <a:t>   →   </a:t>
            </a:r>
            <a:r>
              <a:rPr lang="en-GB" sz="1000">
                <a:solidFill>
                  <a:srgbClr val="34D8B0"/>
                </a:solidFill>
                <a:latin typeface="Consolas"/>
                <a:ea typeface="Consolas"/>
                <a:cs typeface="Consolas"/>
                <a:sym typeface="Consolas"/>
              </a:rPr>
              <a:t>prefix cache → 400 ms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425196" y="3531870"/>
            <a:ext cx="4800600" cy="960120"/>
          </a:xfrm>
          <a:prstGeom prst="rect">
            <a:avLst/>
          </a:prstGeom>
          <a:solidFill>
            <a:srgbClr val="0D1726"/>
          </a:solidFill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27843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630936" y="3682746"/>
            <a:ext cx="43891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900"/>
              <a:buFont typeface="Consolas"/>
              <a:buNone/>
            </a:pPr>
            <a:r>
              <a:rPr b="1" lang="en-GB" sz="9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NIM cold-start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630936" y="3984498"/>
            <a:ext cx="4457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5E"/>
              </a:buClr>
              <a:buSzPts val="1000"/>
              <a:buFont typeface="Consolas"/>
              <a:buNone/>
            </a:pPr>
            <a:r>
              <a:rPr lang="en-GB" sz="1000">
                <a:solidFill>
                  <a:srgbClr val="FF6B5E"/>
                </a:solidFill>
                <a:latin typeface="Consolas"/>
                <a:ea typeface="Consolas"/>
                <a:cs typeface="Consolas"/>
                <a:sym typeface="Consolas"/>
              </a:rPr>
              <a:t>2 h pull · killed iteration</a:t>
            </a:r>
            <a:r>
              <a:rPr b="1" lang="en-GB" sz="1200">
                <a:solidFill>
                  <a:srgbClr val="76B900"/>
                </a:solidFill>
                <a:latin typeface="Trebuchet MS"/>
                <a:ea typeface="Trebuchet MS"/>
                <a:cs typeface="Trebuchet MS"/>
                <a:sym typeface="Trebuchet MS"/>
              </a:rPr>
              <a:t>   →   </a:t>
            </a:r>
            <a:r>
              <a:rPr lang="en-GB" sz="1000">
                <a:solidFill>
                  <a:srgbClr val="34D8B0"/>
                </a:solidFill>
                <a:latin typeface="Consolas"/>
                <a:ea typeface="Consolas"/>
                <a:cs typeface="Consolas"/>
                <a:sym typeface="Consolas"/>
              </a:rPr>
              <a:t>pre-warmed images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5431536" y="1337310"/>
            <a:ext cx="3291840" cy="1028700"/>
          </a:xfrm>
          <a:prstGeom prst="rect">
            <a:avLst/>
          </a:prstGeom>
          <a:solidFill>
            <a:srgbClr val="0D1726"/>
          </a:solidFill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27843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5602986" y="1460754"/>
            <a:ext cx="29489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CREATIVE WORKAROUND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5602986" y="1714500"/>
            <a:ext cx="30861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Char char="•"/>
            </a:pPr>
            <a:r>
              <a:rPr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One Cloudflare Tunnel + Caddy reverse proxy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40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onsolas"/>
              <a:buChar char="•"/>
            </a:pPr>
            <a:r>
              <a:rPr lang="en-GB" sz="1000">
                <a:solidFill>
                  <a:srgbClr val="E8EEF9"/>
                </a:solidFill>
                <a:latin typeface="Consolas"/>
                <a:ea typeface="Consolas"/>
                <a:cs typeface="Consolas"/>
                <a:sym typeface="Consolas"/>
              </a:rPr>
              <a:t>layla.ai-cloud.io survives reboots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5431536" y="2468880"/>
            <a:ext cx="3291840" cy="1028700"/>
          </a:xfrm>
          <a:prstGeom prst="rect">
            <a:avLst/>
          </a:prstGeom>
          <a:solidFill>
            <a:srgbClr val="0D1726"/>
          </a:solidFill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27843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5602986" y="2592324"/>
            <a:ext cx="29489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HONEST TRADEOFF · COVERAGE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5602986" y="2846070"/>
            <a:ext cx="30861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1000"/>
              <a:buFont typeface="Calibri"/>
              <a:buChar char="•"/>
            </a:pPr>
            <a:r>
              <a:rPr b="1" lang="en-GB" sz="1000">
                <a:solidFill>
                  <a:srgbClr val="E8EEF9"/>
                </a:solidFill>
                <a:latin typeface="Calibri"/>
                <a:ea typeface="Calibri"/>
                <a:cs typeface="Calibri"/>
                <a:sym typeface="Calibri"/>
              </a:rPr>
              <a:t>Routing = City of London (~1 km²) today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400"/>
              </a:spcBef>
              <a:spcAft>
                <a:spcPts val="0"/>
              </a:spcAft>
              <a:buClr>
                <a:srgbClr val="8AA0C2"/>
              </a:buClr>
              <a:buSzPts val="1000"/>
              <a:buFont typeface="Calibri"/>
              <a:buChar char="•"/>
            </a:pPr>
            <a:r>
              <a:rPr lang="en-GB" sz="1000">
                <a:solidFill>
                  <a:srgbClr val="8AA0C2"/>
                </a:solidFill>
                <a:latin typeface="Calibri"/>
                <a:ea typeface="Calibri"/>
                <a:cs typeface="Calibri"/>
                <a:sym typeface="Calibri"/>
              </a:rPr>
              <a:t>Expand = re-ingest a larger OSM bbox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5431536" y="3600450"/>
            <a:ext cx="3291840" cy="891540"/>
          </a:xfrm>
          <a:prstGeom prst="rect">
            <a:avLst/>
          </a:prstGeom>
          <a:solidFill>
            <a:srgbClr val="0F2A12"/>
          </a:solidFill>
          <a:ln cap="flat" cmpd="sng" w="12700">
            <a:solidFill>
              <a:srgbClr val="1D2C4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27843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5431536" y="3717036"/>
            <a:ext cx="32918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2300"/>
              <a:buFont typeface="Trebuchet MS"/>
              <a:buNone/>
            </a:pPr>
            <a:r>
              <a:rPr b="1" lang="en-GB" sz="2300">
                <a:solidFill>
                  <a:srgbClr val="76B900"/>
                </a:solidFill>
                <a:latin typeface="Trebuchet MS"/>
                <a:ea typeface="Trebuchet MS"/>
                <a:cs typeface="Trebuchet MS"/>
                <a:sym typeface="Trebuchet MS"/>
              </a:rPr>
              <a:t>one Spark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5500116" y="4114800"/>
            <a:ext cx="31546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9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E8EEF9"/>
                </a:solidFill>
                <a:latin typeface="Consolas"/>
                <a:ea typeface="Consolas"/>
                <a:cs typeface="Consolas"/>
                <a:sym typeface="Consolas"/>
              </a:rPr>
              <a:t>30B model · vision · 6 feeds · agent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all running concurrently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425196" y="4828032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LAYLA</a:t>
            </a: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  ·  Accessibility Mobility Intelligence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6386855" y="4828032"/>
            <a:ext cx="17145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0C2"/>
              </a:buClr>
              <a:buSzPts val="800"/>
              <a:buFont typeface="Consolas"/>
              <a:buNone/>
            </a:pPr>
            <a:r>
              <a:rPr lang="en-GB" sz="800">
                <a:solidFill>
                  <a:srgbClr val="8AA0C2"/>
                </a:solidFill>
                <a:latin typeface="Consolas"/>
                <a:ea typeface="Consolas"/>
                <a:cs typeface="Consolas"/>
                <a:sym typeface="Consolas"/>
              </a:rPr>
              <a:t>04 · How we built it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8560841" y="4828032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800"/>
              <a:buFont typeface="Consolas"/>
              <a:buNone/>
            </a:pPr>
            <a:r>
              <a:rPr b="1" lang="en-GB" sz="800">
                <a:solidFill>
                  <a:srgbClr val="76B900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